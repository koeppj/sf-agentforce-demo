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4" r:id="rId2"/>
  </p:sldMasterIdLst>
  <p:notesMasterIdLst>
    <p:notesMasterId r:id="rId66"/>
  </p:notesMasterIdLst>
  <p:sldIdLst>
    <p:sldId id="287" r:id="rId34"/>
    <p:sldId id="273" r:id="rId20"/>
    <p:sldId id="272" r:id="rId19"/>
  </p:sldIdLst>
  <p:sldSz cx="12192000" cy="6858000"/>
  <p:notesSz cx="6858000" cy="9144000"/>
  <p:embeddedFontLst>
    <p:embeddedFont>
      <p:font typeface="Inter" panose="020B0604020202020204" charset="0"/>
      <p:regular r:id="rId67"/>
      <p:bold r:id="rId68"/>
      <p:italic r:id="rId69"/>
      <p:boldItalic r:id="rId70"/>
    </p:embeddedFont>
    <p:embeddedFont>
      <p:font typeface="Inter SemiBold" panose="020B0604020202020204" charset="0"/>
      <p:regular r:id="rId71"/>
      <p:bold r:id="rId72"/>
      <p:italic r:id="rId73"/>
      <p:boldItalic r:id="rId74"/>
    </p:embeddedFont>
    <p:embeddedFont>
      <p:font typeface="Lato" panose="020F0502020204030203" pitchFamily="34" charset="0"/>
      <p:regular r:id="rId75"/>
      <p:bold r:id="rId76"/>
      <p:italic r:id="rId77"/>
      <p:boldItalic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9" roundtripDataSignature="AMtx7mjHLA5xF1xEMlsDcVY9LFiqmL+s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B22EE9-5974-480C-BC98-DFEB55A7A6E2}" v="11" dt="2025-01-29T21:14:15.012"/>
  </p1510:revLst>
</p1510:revInfo>
</file>

<file path=ppt/tableStyles.xml><?xml version="1.0" encoding="utf-8"?>
<a:tblStyleLst xmlns:a="http://schemas.openxmlformats.org/drawingml/2006/main" def="{C784F4EC-CC08-4F2C-AF4B-861F6366EBD4}">
  <a:tblStyle styleId="{C784F4EC-CC08-4F2C-AF4B-861F6366EB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EED9F6-C3E8-469C-8744-E4882CC8F638}" styleName="Table_1">
    <a:wholeTbl>
      <a:tcTxStyle b="off" i="off">
        <a:font>
          <a:latin typeface="Inter Display"/>
          <a:ea typeface="Inter Display"/>
          <a:cs typeface="Inter Display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4EC"/>
          </a:solidFill>
        </a:fill>
      </a:tcStyle>
    </a:wholeTbl>
    <a:band1H>
      <a:tcTxStyle/>
      <a:tcStyle>
        <a:tcBdr/>
        <a:fill>
          <a:solidFill>
            <a:srgbClr val="CBE9D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E9D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68" Type="http://schemas.openxmlformats.org/officeDocument/2006/relationships/font" Target="fonts/font2.fntdata"/><Relationship Id="rId84" Type="http://schemas.microsoft.com/office/2016/11/relationships/changesInfo" Target="changesInfos/changesInfo1.xml"/><Relationship Id="rId74" Type="http://schemas.openxmlformats.org/officeDocument/2006/relationships/font" Target="fonts/font8.fntdata"/><Relationship Id="rId79" Type="http://customschemas.google.com/relationships/presentationmetadata" Target="metadata"/><Relationship Id="rId19" Type="http://schemas.openxmlformats.org/officeDocument/2006/relationships/slide" Target="slides/slide17.xml"/><Relationship Id="rId69" Type="http://schemas.openxmlformats.org/officeDocument/2006/relationships/font" Target="fonts/font3.fntdata"/><Relationship Id="rId77" Type="http://schemas.openxmlformats.org/officeDocument/2006/relationships/font" Target="fonts/font11.fntdata"/><Relationship Id="rId72" Type="http://schemas.openxmlformats.org/officeDocument/2006/relationships/font" Target="fonts/font6.fntdata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67" Type="http://schemas.openxmlformats.org/officeDocument/2006/relationships/font" Target="fonts/font1.fntdata"/><Relationship Id="rId20" Type="http://schemas.openxmlformats.org/officeDocument/2006/relationships/slide" Target="slides/slide18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73" Type="http://schemas.openxmlformats.org/officeDocument/2006/relationships/font" Target="fonts/font7.fntdata"/><Relationship Id="rId78" Type="http://schemas.openxmlformats.org/officeDocument/2006/relationships/font" Target="fonts/font12.fntdata"/><Relationship Id="rId81" Type="http://schemas.openxmlformats.org/officeDocument/2006/relationships/viewProps" Target="viewProps.xml"/><Relationship Id="rId34" Type="http://schemas.openxmlformats.org/officeDocument/2006/relationships/slide" Target="slides/slide32.xml"/><Relationship Id="rId76" Type="http://schemas.openxmlformats.org/officeDocument/2006/relationships/font" Target="fonts/font10.fntdata"/><Relationship Id="rId71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66" Type="http://schemas.openxmlformats.org/officeDocument/2006/relationships/notesMaster" Target="notesMasters/notesMaster1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wn Lauter" userId="EayCrLO+sJ+9mw0rHpbKC/CmP4K2AjfZWeUErDMdhGU=" providerId="None" clId="Web-{9CB22EE9-5974-480C-BC98-DFEB55A7A6E2}"/>
    <pc:docChg chg="modSld">
      <pc:chgData name="Dawn Lauter" userId="EayCrLO+sJ+9mw0rHpbKC/CmP4K2AjfZWeUErDMdhGU=" providerId="None" clId="Web-{9CB22EE9-5974-480C-BC98-DFEB55A7A6E2}" dt="2025-01-29T21:14:11.856" v="8"/>
      <pc:docMkLst>
        <pc:docMk/>
      </pc:docMkLst>
      <pc:sldChg chg="modSp">
        <pc:chgData name="Dawn Lauter" userId="EayCrLO+sJ+9mw0rHpbKC/CmP4K2AjfZWeUErDMdhGU=" providerId="None" clId="Web-{9CB22EE9-5974-480C-BC98-DFEB55A7A6E2}" dt="2025-01-29T21:14:11.856" v="8"/>
        <pc:sldMkLst>
          <pc:docMk/>
          <pc:sldMk cId="0" sldId="314"/>
        </pc:sldMkLst>
        <pc:graphicFrameChg chg="mod modGraphic">
          <ac:chgData name="Dawn Lauter" userId="EayCrLO+sJ+9mw0rHpbKC/CmP4K2AjfZWeUErDMdhGU=" providerId="None" clId="Web-{9CB22EE9-5974-480C-BC98-DFEB55A7A6E2}" dt="2025-01-29T21:14:11.856" v="8"/>
          <ac:graphicFrameMkLst>
            <pc:docMk/>
            <pc:sldMk cId="0" sldId="314"/>
            <ac:graphicFrameMk id="1160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5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1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1"/>
          <p:cNvSpPr/>
          <p:nvPr/>
        </p:nvSpPr>
        <p:spPr>
          <a:xfrm>
            <a:off x="477369" y="0"/>
            <a:ext cx="11237976" cy="6324126"/>
          </a:xfrm>
          <a:prstGeom prst="round2SameRect">
            <a:avLst>
              <a:gd name="adj1" fmla="val 0"/>
              <a:gd name="adj2" fmla="val 3230"/>
            </a:avLst>
          </a:prstGeom>
          <a:solidFill>
            <a:schemeClr val="lt1"/>
          </a:solidFill>
          <a:ln>
            <a:noFill/>
          </a:ln>
          <a:effectLst>
            <a:outerShdw blurRad="762000" dist="381000" dir="5400000" rotWithShape="0">
              <a:srgbClr val="003A83">
                <a:alpha val="1490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2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6_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7"/>
          <p:cNvSpPr/>
          <p:nvPr/>
        </p:nvSpPr>
        <p:spPr>
          <a:xfrm>
            <a:off x="477369" y="476414"/>
            <a:ext cx="11237263" cy="5746751"/>
          </a:xfrm>
          <a:prstGeom prst="roundRect">
            <a:avLst>
              <a:gd name="adj" fmla="val 3315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" name="Google Shape;32;p67"/>
          <p:cNvSpPr/>
          <p:nvPr/>
        </p:nvSpPr>
        <p:spPr>
          <a:xfrm>
            <a:off x="477369" y="476414"/>
            <a:ext cx="11237263" cy="5746751"/>
          </a:xfrm>
          <a:prstGeom prst="roundRect">
            <a:avLst>
              <a:gd name="adj" fmla="val 3315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67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 b="1" i="0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0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2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4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5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6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6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7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9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9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0"/>
          <p:cNvSpPr txBox="1">
            <a:spLocks noGrp="1"/>
          </p:cNvSpPr>
          <p:nvPr>
            <p:ph type="title"/>
          </p:nvPr>
        </p:nvSpPr>
        <p:spPr>
          <a:xfrm>
            <a:off x="495300" y="2690336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4" descr="Frame 26080461.png"/>
          <p:cNvPicPr preferRelativeResize="0"/>
          <p:nvPr/>
        </p:nvPicPr>
        <p:blipFill rotWithShape="1">
          <a:blip r:embed="rId7">
            <a:alphaModFix amt="59803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64" descr="Frame 26080461.png"/>
          <p:cNvPicPr preferRelativeResize="0"/>
          <p:nvPr/>
        </p:nvPicPr>
        <p:blipFill rotWithShape="1">
          <a:blip r:embed="rId7">
            <a:alphaModFix amt="59803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  <a:defRPr sz="28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64"/>
          <p:cNvSpPr txBox="1">
            <a:spLocks noGrp="1"/>
          </p:cNvSpPr>
          <p:nvPr>
            <p:ph type="body" idx="1"/>
          </p:nvPr>
        </p:nvSpPr>
        <p:spPr>
          <a:xfrm>
            <a:off x="838200" y="1485900"/>
            <a:ext cx="10515600" cy="428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312">
          <p15:clr>
            <a:srgbClr val="A4A3A4"/>
          </p15:clr>
        </p15:guide>
        <p15:guide id="3" pos="7368">
          <p15:clr>
            <a:srgbClr val="A4A3A4"/>
          </p15:clr>
        </p15:guide>
        <p15:guide id="4" pos="3840">
          <p15:clr>
            <a:srgbClr val="A4A3A4"/>
          </p15:clr>
        </p15:guide>
        <p15:guide id="5" pos="528">
          <p15:clr>
            <a:srgbClr val="A4A3A4"/>
          </p15:clr>
        </p15:guide>
        <p15:guide id="6" pos="2112">
          <p15:clr>
            <a:srgbClr val="A4A3A4"/>
          </p15:clr>
        </p15:guide>
        <p15:guide id="7" pos="5568">
          <p15:clr>
            <a:srgbClr val="A4A3A4"/>
          </p15:clr>
        </p15:guide>
        <p15:guide id="8" pos="7152">
          <p15:clr>
            <a:srgbClr val="A4A3A4"/>
          </p15:clr>
        </p15:guide>
        <p15:guide id="9" orient="horz" pos="288">
          <p15:clr>
            <a:srgbClr val="A4A3A4"/>
          </p15:clr>
        </p15:guide>
        <p15:guide id="10" orient="horz" pos="576">
          <p15:clr>
            <a:srgbClr val="A4A3A4"/>
          </p15:clr>
        </p15:guide>
        <p15:guide id="11" orient="horz" pos="1896">
          <p15:clr>
            <a:srgbClr val="A4A3A4"/>
          </p15:clr>
        </p15:guide>
        <p15:guide id="12" orient="horz" pos="936">
          <p15:clr>
            <a:srgbClr val="A4A3A4"/>
          </p15:clr>
        </p15:guide>
        <p15:guide id="13" orient="horz" pos="3912">
          <p15:clr>
            <a:srgbClr val="A4A3A4"/>
          </p15:clr>
        </p15:guide>
        <p15:guide id="14" orient="horz" pos="4080">
          <p15:clr>
            <a:srgbClr val="A4A3A4"/>
          </p15:clr>
        </p15:guide>
        <p15:guide id="15" orient="horz" pos="2664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6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28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66"/>
          <p:cNvSpPr txBox="1">
            <a:spLocks noGrp="1"/>
          </p:cNvSpPr>
          <p:nvPr>
            <p:ph type="body" idx="1"/>
          </p:nvPr>
        </p:nvSpPr>
        <p:spPr>
          <a:xfrm>
            <a:off x="838200" y="1485900"/>
            <a:ext cx="10515600" cy="47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112">
          <p15:clr>
            <a:srgbClr val="A4A3A4"/>
          </p15:clr>
        </p15:guide>
        <p15:guide id="4" orient="horz" pos="288">
          <p15:clr>
            <a:srgbClr val="A4A3A4"/>
          </p15:clr>
        </p15:guide>
        <p15:guide id="5" orient="horz" pos="576">
          <p15:clr>
            <a:srgbClr val="A4A3A4"/>
          </p15:clr>
        </p15:guide>
        <p15:guide id="6" orient="horz" pos="1896">
          <p15:clr>
            <a:srgbClr val="A4A3A4"/>
          </p15:clr>
        </p15:guide>
        <p15:guide id="7" orient="horz" pos="3912">
          <p15:clr>
            <a:srgbClr val="A4A3A4"/>
          </p15:clr>
        </p15:guide>
        <p15:guide id="8" pos="528">
          <p15:clr>
            <a:srgbClr val="A4A3A4"/>
          </p15:clr>
        </p15:guide>
        <p15:guide id="9" pos="312">
          <p15:clr>
            <a:srgbClr val="A4A3A4"/>
          </p15:clr>
        </p15:guide>
        <p15:guide id="10" pos="5640">
          <p15:clr>
            <a:srgbClr val="A4A3A4"/>
          </p15:clr>
        </p15:guide>
        <p15:guide id="11" pos="7152">
          <p15:clr>
            <a:srgbClr val="A4A3A4"/>
          </p15:clr>
        </p15:guide>
        <p15:guide id="12" pos="7368">
          <p15:clr>
            <a:srgbClr val="A4A3A4"/>
          </p15:clr>
        </p15:guide>
        <p15:guide id="13" orient="horz" pos="2688">
          <p15:clr>
            <a:srgbClr val="A4A3A4"/>
          </p15:clr>
        </p15:guide>
        <p15:guide id="14" orient="horz" pos="4080">
          <p15:clr>
            <a:srgbClr val="A4A3A4"/>
          </p15:clr>
        </p15:guide>
        <p15:guide id="15" orient="horz" pos="936">
          <p15:clr>
            <a:srgbClr val="A4A3A4"/>
          </p15:clr>
        </p15:guide>
      </p15:sldGuideLst>
    </p:ext>
  </p:extLst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 sz="3000" b="1">
                <a:solidFill>
                  <a:srgbClr val="000000"/>
                </a:solidFill>
                <a:latin typeface="Inter"/>
                <a:ea typeface="+mn-ea"/>
                <a:cs typeface="+mn-ea"/>
                <a:sym typeface="Inter"/>
              </a:rPr>
              <a:t>Components required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17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 b="0">
                <a:solidFill>
                  <a:srgbClr val="4E4E4E"/>
                </a:solidFill>
                <a:latin typeface="Inter"/>
                <a:ea typeface="+mn-ea"/>
                <a:cs typeface="+mn-ea"/>
                <a:sym typeface="Inter"/>
              </a:rPr>
              <a:t>A shared portal backbone supports every intake model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0" name="Google Shape;240;p17"/>
          <p:cNvGrpSpPr/>
          <p:nvPr/>
        </p:nvGrpSpPr>
        <p:grpSpPr>
          <a:xfrm>
            <a:off x="628650" y="1773936"/>
            <a:ext cx="2667000" cy="3111501"/>
            <a:chOff x="628650" y="1930660"/>
            <a:chExt cx="2667000" cy="3111501"/>
          </a:xfrm>
        </p:grpSpPr>
        <p:sp>
          <p:nvSpPr>
            <p:cNvPr id="241" name="Google Shape;241;p17"/>
            <p:cNvSpPr/>
            <p:nvPr/>
          </p:nvSpPr>
          <p:spPr>
            <a:xfrm>
              <a:off x="6286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2" name="Google Shape;242;p17"/>
            <p:cNvSpPr txBox="1"/>
            <p:nvPr/>
          </p:nvSpPr>
          <p:spPr>
            <a:xfrm>
              <a:off x="8609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1900" b="1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Employee portal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Authenticated page and navigation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Access for every eligible profile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Internal and external users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3" name="Google Shape;243;p17"/>
          <p:cNvGrpSpPr/>
          <p:nvPr/>
        </p:nvGrpSpPr>
        <p:grpSpPr>
          <a:xfrm>
            <a:off x="3486150" y="1773936"/>
            <a:ext cx="2667000" cy="3111501"/>
            <a:chOff x="3486150" y="1930660"/>
            <a:chExt cx="2667000" cy="3111501"/>
          </a:xfrm>
        </p:grpSpPr>
        <p:sp>
          <p:nvSpPr>
            <p:cNvPr id="244" name="Google Shape;244;p17"/>
            <p:cNvSpPr/>
            <p:nvPr/>
          </p:nvSpPr>
          <p:spPr>
            <a:xfrm>
              <a:off x="34861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37184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1900" b="1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Case orchestration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Portal Request record type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New, Working, and Closed status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Ownership, sharing, automation guard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6" name="Google Shape;246;p17"/>
          <p:cNvGrpSpPr/>
          <p:nvPr/>
        </p:nvGrpSpPr>
        <p:grpSpPr>
          <a:xfrm>
            <a:off x="6343650" y="1773936"/>
            <a:ext cx="2667000" cy="3111501"/>
            <a:chOff x="6343650" y="1930660"/>
            <a:chExt cx="2667000" cy="3111501"/>
          </a:xfrm>
        </p:grpSpPr>
        <p:sp>
          <p:nvSpPr>
            <p:cNvPr id="247" name="Google Shape;247;p17"/>
            <p:cNvSpPr/>
            <p:nvPr/>
          </p:nvSpPr>
          <p:spPr>
            <a:xfrm>
              <a:off x="63436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8" name="Google Shape;248;p17"/>
            <p:cNvSpPr txBox="1"/>
            <p:nvPr/>
          </p:nvSpPr>
          <p:spPr>
            <a:xfrm>
              <a:off x="65759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1900" b="1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Box content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Case folder and Editor access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Direct multi-file upload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Identity and site trust setup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9" name="Google Shape;249;p17"/>
          <p:cNvGrpSpPr/>
          <p:nvPr/>
        </p:nvGrpSpPr>
        <p:grpSpPr>
          <a:xfrm>
            <a:off x="9201150" y="1773936"/>
            <a:ext cx="2667000" cy="3111501"/>
            <a:chOff x="9201150" y="1930660"/>
            <a:chExt cx="2667000" cy="3111501"/>
          </a:xfrm>
        </p:grpSpPr>
        <p:sp>
          <p:nvSpPr>
            <p:cNvPr id="250" name="Google Shape;250;p17"/>
            <p:cNvSpPr/>
            <p:nvPr/>
          </p:nvSpPr>
          <p:spPr>
            <a:xfrm>
              <a:off x="92011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9433484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1900" b="1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HR form services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Selected v1, v2, or v3 model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Box JSON and Doc Gen as needed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+mn-ea"/>
                  <a:cs typeface="+mn-ea"/>
                  <a:sym typeface="Inter"/>
                </a:rPr>
                <a:t>Shared status and receipt pattern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 sz="3000" b="1">
                <a:solidFill>
                  <a:srgbClr val="000000"/>
                </a:solidFill>
                <a:latin typeface="Inter"/>
                <a:ea typeface="+mn-ea"/>
                <a:cs typeface="+mn-ea"/>
                <a:sym typeface="Inter"/>
              </a:rPr>
              <a:t>HR intake implementation options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 b="0">
                <a:solidFill>
                  <a:srgbClr val="4E4E4E"/>
                </a:solidFill>
                <a:latin typeface="Inter"/>
                <a:ea typeface="+mn-ea"/>
                <a:cs typeface="+mn-ea"/>
                <a:sym typeface="Inter"/>
              </a:rPr>
              <a:t>Choose based on form complexity, catalog size, and expected change frequency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476250" y="1778000"/>
            <a:ext cx="3619500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8095452" y="1773936"/>
            <a:ext cx="3619501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4286250" y="1778000"/>
            <a:ext cx="3619500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708586" y="2771930"/>
            <a:ext cx="3193944" cy="178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v1  Admin-built Flow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</a:pPr>
            <a:r>
              <a:rPr lang="en-US" sz="1400" b="0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One Flow per form and version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</a:pPr>
            <a:r>
              <a:rPr lang="en-US" sz="1400" b="0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Builds on the current New Hire path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</a:pPr>
            <a:r>
              <a:rPr lang="en-US" sz="1400" b="0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Best for a small, stable catalog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2" name="Google Shape;262;p18" descr="Icon_Plane.png"/>
          <p:cNvPicPr preferRelativeResize="0"/>
          <p:nvPr/>
        </p:nvPicPr>
        <p:blipFill rotWithShape="1">
          <a:blip r:embed="rId3">
            <a:alphaModFix/>
          </a:blip>
          <a:srcRect l="164" r="164"/>
          <a:stretch/>
        </p:blipFill>
        <p:spPr>
          <a:xfrm>
            <a:off x="711336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8" descr="Icon_3-Tier.png"/>
          <p:cNvPicPr preferRelativeResize="0"/>
          <p:nvPr/>
        </p:nvPicPr>
        <p:blipFill rotWithShape="1">
          <a:blip r:embed="rId4">
            <a:alphaModFix/>
          </a:blip>
          <a:srcRect l="164" r="164"/>
          <a:stretch/>
        </p:blipFill>
        <p:spPr>
          <a:xfrm>
            <a:off x="4520931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8" descr="Line graph-v2a.png"/>
          <p:cNvPicPr preferRelativeResize="0"/>
          <p:nvPr/>
        </p:nvPicPr>
        <p:blipFill rotWithShape="1">
          <a:blip r:embed="rId5">
            <a:alphaModFix/>
          </a:blip>
          <a:srcRect l="164" r="164"/>
          <a:stretch/>
        </p:blipFill>
        <p:spPr>
          <a:xfrm>
            <a:off x="8330134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8"/>
          <p:cNvSpPr txBox="1"/>
          <p:nvPr/>
        </p:nvSpPr>
        <p:spPr>
          <a:xfrm>
            <a:off x="4518180" y="2771930"/>
            <a:ext cx="3193943" cy="165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v2  Schema-driven form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</a:pPr>
            <a:r>
              <a:rPr lang="en-US" sz="1400" b="0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One shared Flow and form component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</a:pPr>
            <a:r>
              <a:rPr lang="en-US" sz="1400" b="0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New forms publish through Box JSON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</a:pPr>
            <a:r>
              <a:rPr lang="en-US" sz="1400" b="0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Best for many standardized forms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8327383" y="2771930"/>
            <a:ext cx="3193944" cy="178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v3  Guided Flow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</a:pPr>
            <a:r>
              <a:rPr lang="en-US" sz="1400" b="0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One multi-screen Flow per request type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</a:pPr>
            <a:r>
              <a:rPr lang="en-US" sz="1400" b="0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Supports branching and skipped screens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</a:pPr>
            <a:r>
              <a:rPr lang="en-US" sz="1400" b="0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Best for complex employee journeys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 sz="3000" b="1">
                <a:solidFill>
                  <a:srgbClr val="000000"/>
                </a:solidFill>
                <a:latin typeface="Inter"/>
                <a:ea typeface="+mn-ea"/>
                <a:cs typeface="+mn-ea"/>
                <a:sym typeface="Inter"/>
              </a:rPr>
              <a:t>HR Request Portal solution approach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32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 b="0">
                <a:solidFill>
                  <a:srgbClr val="4E4E4E"/>
                </a:solidFill>
                <a:latin typeface="Inter"/>
                <a:ea typeface="+mn-ea"/>
                <a:cs typeface="+mn-ea"/>
              </a:rPr>
              <a:t>A single employee journey connects intake, case management, and secure Box content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32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+mn-ea"/>
                <a:cs typeface="+mn-ea"/>
                <a:sym typeface="Inter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5" name="Google Shape;445;p32"/>
          <p:cNvCxnSpPr>
            <a:stCxn id="446" idx="3"/>
            <a:endCxn id="447" idx="1"/>
          </p:cNvCxnSpPr>
          <p:nvPr/>
        </p:nvCxnSpPr>
        <p:spPr>
          <a:xfrm>
            <a:off x="3198773" y="4634200"/>
            <a:ext cx="4065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446" name="Google Shape;446;p32"/>
          <p:cNvSpPr/>
          <p:nvPr/>
        </p:nvSpPr>
        <p:spPr>
          <a:xfrm>
            <a:off x="786432" y="4086799"/>
            <a:ext cx="2412341" cy="1094801"/>
          </a:xfrm>
          <a:prstGeom prst="roundRect">
            <a:avLst>
              <a:gd name="adj" fmla="val 11121"/>
            </a:avLst>
          </a:prstGeom>
          <a:solidFill>
            <a:srgbClr val="26C2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Submit HR request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6496576" y="4086799"/>
            <a:ext cx="2263293" cy="1094801"/>
          </a:xfrm>
          <a:prstGeom prst="roundRect">
            <a:avLst>
              <a:gd name="adj" fmla="val 12308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Grant access and upload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7" name="Google Shape;447;p32"/>
          <p:cNvSpPr/>
          <p:nvPr/>
        </p:nvSpPr>
        <p:spPr>
          <a:xfrm>
            <a:off x="3605188" y="4086799"/>
            <a:ext cx="1913259" cy="1094801"/>
          </a:xfrm>
          <a:prstGeom prst="roundRect">
            <a:avLst>
              <a:gd name="adj" fmla="val 9933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Create Portal Request Case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4910895" y="2197952"/>
            <a:ext cx="2398511" cy="1094801"/>
          </a:xfrm>
          <a:prstGeom prst="roundRect">
            <a:avLst>
              <a:gd name="adj" fmla="val 12387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Provision Box folder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Google Shape;450;p32"/>
          <p:cNvSpPr/>
          <p:nvPr/>
        </p:nvSpPr>
        <p:spPr>
          <a:xfrm>
            <a:off x="9142275" y="4086799"/>
            <a:ext cx="2263293" cy="1094801"/>
          </a:xfrm>
          <a:prstGeom prst="roundRect">
            <a:avLst>
              <a:gd name="adj" fmla="val 13652"/>
            </a:avLst>
          </a:prstGeom>
          <a:solidFill>
            <a:srgbClr val="ED37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+mn-ea"/>
                <a:cs typeface="+mn-ea"/>
                <a:sym typeface="Inter"/>
              </a:rPr>
              <a:t>Track and resolve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1" name="Google Shape;451;p32"/>
          <p:cNvCxnSpPr>
            <a:stCxn id="449" idx="1"/>
            <a:endCxn id="447" idx="0"/>
          </p:cNvCxnSpPr>
          <p:nvPr/>
        </p:nvCxnSpPr>
        <p:spPr>
          <a:xfrm flipH="1">
            <a:off x="4561695" y="2745353"/>
            <a:ext cx="349200" cy="1341300"/>
          </a:xfrm>
          <a:prstGeom prst="bentConnector2">
            <a:avLst/>
          </a:prstGeom>
          <a:noFill/>
          <a:ln w="22225" cap="flat" cmpd="sng">
            <a:solidFill>
              <a:schemeClr val="dk2"/>
            </a:solidFill>
            <a:prstDash val="solid"/>
            <a:miter lim="400000"/>
            <a:headEnd type="stealth" w="med" len="med"/>
            <a:tailEnd type="none" w="sm" len="sm"/>
          </a:ln>
        </p:spPr>
      </p:cxnSp>
      <p:cxnSp>
        <p:nvCxnSpPr>
          <p:cNvPr id="452" name="Google Shape;452;p32"/>
          <p:cNvCxnSpPr>
            <a:endCxn id="449" idx="3"/>
          </p:cNvCxnSpPr>
          <p:nvPr/>
        </p:nvCxnSpPr>
        <p:spPr>
          <a:xfrm rot="5400000" flipH="1">
            <a:off x="6798206" y="3256553"/>
            <a:ext cx="1341300" cy="318900"/>
          </a:xfrm>
          <a:prstGeom prst="bentConnector2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stealth" w="med" len="med"/>
            <a:tailEnd type="none" w="sm" len="sm"/>
          </a:ln>
        </p:spPr>
      </p:cxnSp>
      <p:cxnSp>
        <p:nvCxnSpPr>
          <p:cNvPr id="453" name="Google Shape;453;p32"/>
          <p:cNvCxnSpPr>
            <a:stCxn id="448" idx="3"/>
            <a:endCxn id="450" idx="1"/>
          </p:cNvCxnSpPr>
          <p:nvPr/>
        </p:nvCxnSpPr>
        <p:spPr>
          <a:xfrm>
            <a:off x="8759869" y="4634200"/>
            <a:ext cx="3825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none" w="sm" len="sm"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ox Theme">
  <a:themeElements>
    <a:clrScheme name="Box template">
      <a:dk1>
        <a:srgbClr val="0061D5"/>
      </a:dk1>
      <a:lt1>
        <a:srgbClr val="FFFFFF"/>
      </a:lt1>
      <a:dk2>
        <a:srgbClr val="000000"/>
      </a:dk2>
      <a:lt2>
        <a:srgbClr val="757575"/>
      </a:lt2>
      <a:accent1>
        <a:srgbClr val="25C180"/>
      </a:accent1>
      <a:accent2>
        <a:srgbClr val="EC3657"/>
      </a:accent2>
      <a:accent3>
        <a:srgbClr val="003B83"/>
      </a:accent3>
      <a:accent4>
        <a:srgbClr val="2486FB"/>
      </a:accent4>
      <a:accent5>
        <a:srgbClr val="F4B21A"/>
      </a:accent5>
      <a:accent6>
        <a:srgbClr val="9F3EEC"/>
      </a:accent6>
      <a:hlink>
        <a:srgbClr val="0061D5"/>
      </a:hlink>
      <a:folHlink>
        <a:srgbClr val="75757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obVTI">
  <a:themeElements>
    <a:clrScheme name="Box template">
      <a:dk1>
        <a:srgbClr val="0061D5"/>
      </a:dk1>
      <a:lt1>
        <a:srgbClr val="FFFFFF"/>
      </a:lt1>
      <a:dk2>
        <a:srgbClr val="000000"/>
      </a:dk2>
      <a:lt2>
        <a:srgbClr val="757575"/>
      </a:lt2>
      <a:accent1>
        <a:srgbClr val="25C180"/>
      </a:accent1>
      <a:accent2>
        <a:srgbClr val="EC3657"/>
      </a:accent2>
      <a:accent3>
        <a:srgbClr val="003B83"/>
      </a:accent3>
      <a:accent4>
        <a:srgbClr val="2486FB"/>
      </a:accent4>
      <a:accent5>
        <a:srgbClr val="F4B21A"/>
      </a:accent5>
      <a:accent6>
        <a:srgbClr val="9F3EEC"/>
      </a:accent6>
      <a:hlink>
        <a:srgbClr val="0061D5"/>
      </a:hlink>
      <a:folHlink>
        <a:srgbClr val="75757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63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65" baseType="lpstr">
      <vt:lpstr>Box Theme</vt:lpstr>
      <vt:lpstr>1_BlobVTI</vt:lpstr>
      <vt:lpstr>New typeface check</vt:lpstr>
      <vt:lpstr>Notes from the Design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 column</vt:lpstr>
      <vt:lpstr>2 column</vt:lpstr>
      <vt:lpstr>1/3:2/3 column</vt:lpstr>
      <vt:lpstr>Framework</vt:lpstr>
      <vt:lpstr>Framework</vt:lpstr>
      <vt:lpstr>Framework with images</vt:lpstr>
      <vt:lpstr>Framework</vt:lpstr>
      <vt:lpstr>Framework</vt:lpstr>
      <vt:lpstr>1 column with quote</vt:lpstr>
      <vt:lpstr>1 column with quote</vt:lpstr>
      <vt:lpstr>Use cases</vt:lpstr>
      <vt:lpstr>PowerPoint Presentation</vt:lpstr>
      <vt:lpstr>Big number</vt:lpstr>
      <vt:lpstr>Big number</vt:lpstr>
      <vt:lpstr>Bar graph</vt:lpstr>
      <vt:lpstr>Line graph</vt:lpstr>
      <vt:lpstr>Pie chart</vt:lpstr>
      <vt:lpstr>Pie chart</vt:lpstr>
      <vt:lpstr>Flow chart</vt:lpstr>
      <vt:lpstr>Timeline</vt:lpstr>
      <vt:lpstr>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CTA/Summary/Take away</vt:lpstr>
      <vt:lpstr>Thank you  Speaker Name Email @speaker URL +1 415 344 2645 </vt:lpstr>
      <vt:lpstr>Q&amp;A</vt:lpstr>
      <vt:lpstr>PowerPoint Presentation</vt:lpstr>
      <vt:lpstr>Box logo </vt:lpstr>
      <vt:lpstr>Color palette </vt:lpstr>
      <vt:lpstr>Color palette </vt:lpstr>
      <vt:lpstr>File icons</vt:lpstr>
      <vt:lpstr>Number icons </vt:lpstr>
      <vt:lpstr>Icons</vt:lpstr>
      <vt:lpstr>Icons</vt:lpstr>
      <vt:lpstr>Icons</vt:lpstr>
      <vt:lpstr>Icons</vt:lpstr>
      <vt:lpstr>Icons</vt:lpstr>
      <vt:lpstr>Icons</vt:lpstr>
      <vt:lpstr>Speaker and partner headshots</vt:lpstr>
      <vt:lpstr>Personas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Moose Maravilla</dc:creator>
  <cp:revision>2</cp:revision>
  <dcterms:created xsi:type="dcterms:W3CDTF">2024-12-13T22:25:07Z</dcterms:created>
  <dcterms:modified xsi:type="dcterms:W3CDTF">2025-01-29T21:14:16Z</dcterms:modified>
</cp:coreProperties>
</file>